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Barlow Condensed" charset="1" panose="00000506000000000000"/>
      <p:regular r:id="rId12"/>
    </p:embeddedFont>
    <p:embeddedFont>
      <p:font typeface="Barlow Condensed Bold" charset="1" panose="00000806000000000000"/>
      <p:regular r:id="rId13"/>
    </p:embeddedFont>
    <p:embeddedFont>
      <p:font typeface="Aileron Bold" charset="1" panose="00000800000000000000"/>
      <p:regular r:id="rId14"/>
    </p:embeddedFont>
    <p:embeddedFont>
      <p:font typeface="Noto Sans" charset="1" panose="020B0502040504020204"/>
      <p:regular r:id="rId15"/>
    </p:embeddedFont>
    <p:embeddedFont>
      <p:font typeface="Montserrat Heavy" charset="1" panose="00000A00000000000000"/>
      <p:regular r:id="rId16"/>
    </p:embeddedFont>
    <p:embeddedFont>
      <p:font typeface="Saira Bold" charset="1" panose="00000800000000000000"/>
      <p:regular r:id="rId17"/>
    </p:embeddedFont>
    <p:embeddedFont>
      <p:font typeface="Noto Sans Bold" charset="1" panose="020B0802040504020204"/>
      <p:regular r:id="rId18"/>
    </p:embeddedFont>
    <p:embeddedFont>
      <p:font typeface="Barlow Condensed Heavy" charset="1" panose="00000A06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469396" y="2719229"/>
            <a:ext cx="2544433" cy="2544433"/>
          </a:xfrm>
          <a:custGeom>
            <a:avLst/>
            <a:gdLst/>
            <a:ahLst/>
            <a:cxnLst/>
            <a:rect r="r" b="b" t="t" l="l"/>
            <a:pathLst>
              <a:path h="2544433" w="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36521" y="3307946"/>
            <a:ext cx="2594369" cy="4588246"/>
            <a:chOff x="0" y="0"/>
            <a:chExt cx="683291" cy="1208427"/>
          </a:xfrm>
        </p:grpSpPr>
        <p:sp>
          <p:nvSpPr>
            <p:cNvPr name="Freeform 4" id="4"/>
            <p:cNvSpPr/>
            <p:nvPr/>
          </p:nvSpPr>
          <p:spPr>
            <a:xfrm flipH="false" flipV="false" rot="0">
              <a:off x="0" y="0"/>
              <a:ext cx="683291" cy="1208427"/>
            </a:xfrm>
            <a:custGeom>
              <a:avLst/>
              <a:gdLst/>
              <a:ahLst/>
              <a:cxnLst/>
              <a:rect r="r" b="b" t="t" l="l"/>
              <a:pathLst>
                <a:path h="1208427" w="683291">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name="TextBox 5" id="5"/>
            <p:cNvSpPr txBox="true"/>
            <p:nvPr/>
          </p:nvSpPr>
          <p:spPr>
            <a:xfrm>
              <a:off x="0" y="-47625"/>
              <a:ext cx="683291" cy="1256052"/>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958605" y="3307946"/>
            <a:ext cx="1025128" cy="1025128"/>
          </a:xfrm>
          <a:custGeom>
            <a:avLst/>
            <a:gdLst/>
            <a:ahLst/>
            <a:cxnLst/>
            <a:rect r="r" b="b" t="t" l="l"/>
            <a:pathLst>
              <a:path h="1025128" w="1025128">
                <a:moveTo>
                  <a:pt x="0" y="0"/>
                </a:moveTo>
                <a:lnTo>
                  <a:pt x="1025127" y="0"/>
                </a:lnTo>
                <a:lnTo>
                  <a:pt x="1025127" y="1025127"/>
                </a:lnTo>
                <a:lnTo>
                  <a:pt x="0" y="10251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843805" y="8248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769424" y="2436835"/>
            <a:ext cx="806841" cy="564789"/>
          </a:xfrm>
          <a:custGeom>
            <a:avLst/>
            <a:gdLst/>
            <a:ahLst/>
            <a:cxnLst/>
            <a:rect r="r" b="b" t="t" l="l"/>
            <a:pathLst>
              <a:path h="564789" w="806841">
                <a:moveTo>
                  <a:pt x="0" y="0"/>
                </a:moveTo>
                <a:lnTo>
                  <a:pt x="806840" y="0"/>
                </a:lnTo>
                <a:lnTo>
                  <a:pt x="806840" y="564788"/>
                </a:lnTo>
                <a:lnTo>
                  <a:pt x="0" y="5647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412807" y="8799767"/>
            <a:ext cx="1483489" cy="458533"/>
          </a:xfrm>
          <a:custGeom>
            <a:avLst/>
            <a:gdLst/>
            <a:ahLst/>
            <a:cxnLst/>
            <a:rect r="r" b="b" t="t" l="l"/>
            <a:pathLst>
              <a:path h="458533" w="1483489">
                <a:moveTo>
                  <a:pt x="0" y="0"/>
                </a:moveTo>
                <a:lnTo>
                  <a:pt x="1483489" y="0"/>
                </a:lnTo>
                <a:lnTo>
                  <a:pt x="1483489" y="458533"/>
                </a:lnTo>
                <a:lnTo>
                  <a:pt x="0" y="4585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10965326" y="2719229"/>
            <a:ext cx="6723478" cy="5246370"/>
            <a:chOff x="0" y="0"/>
            <a:chExt cx="1041643" cy="812800"/>
          </a:xfrm>
        </p:grpSpPr>
        <p:sp>
          <p:nvSpPr>
            <p:cNvPr name="Freeform 12" id="12"/>
            <p:cNvSpPr/>
            <p:nvPr/>
          </p:nvSpPr>
          <p:spPr>
            <a:xfrm flipH="false" flipV="false" rot="0">
              <a:off x="0" y="0"/>
              <a:ext cx="1041643" cy="812800"/>
            </a:xfrm>
            <a:custGeom>
              <a:avLst/>
              <a:gdLst/>
              <a:ahLst/>
              <a:cxnLst/>
              <a:rect r="r" b="b" t="t" l="l"/>
              <a:pathLst>
                <a:path h="812800" w="1041643">
                  <a:moveTo>
                    <a:pt x="26484" y="0"/>
                  </a:moveTo>
                  <a:lnTo>
                    <a:pt x="1015159" y="0"/>
                  </a:lnTo>
                  <a:cubicBezTo>
                    <a:pt x="1029785" y="0"/>
                    <a:pt x="1041643" y="11857"/>
                    <a:pt x="1041643" y="26484"/>
                  </a:cubicBezTo>
                  <a:lnTo>
                    <a:pt x="1041643" y="786316"/>
                  </a:lnTo>
                  <a:cubicBezTo>
                    <a:pt x="1041643" y="793340"/>
                    <a:pt x="1038852" y="800076"/>
                    <a:pt x="1033886" y="805043"/>
                  </a:cubicBezTo>
                  <a:cubicBezTo>
                    <a:pt x="1028919" y="810010"/>
                    <a:pt x="1022183" y="812800"/>
                    <a:pt x="1015159" y="812800"/>
                  </a:cubicBezTo>
                  <a:lnTo>
                    <a:pt x="26484" y="812800"/>
                  </a:lnTo>
                  <a:cubicBezTo>
                    <a:pt x="19460" y="812800"/>
                    <a:pt x="12724" y="810010"/>
                    <a:pt x="7757" y="805043"/>
                  </a:cubicBezTo>
                  <a:cubicBezTo>
                    <a:pt x="2790" y="800076"/>
                    <a:pt x="0" y="793340"/>
                    <a:pt x="0" y="786316"/>
                  </a:cubicBezTo>
                  <a:lnTo>
                    <a:pt x="0" y="26484"/>
                  </a:lnTo>
                  <a:cubicBezTo>
                    <a:pt x="0" y="19460"/>
                    <a:pt x="2790" y="12724"/>
                    <a:pt x="7757" y="7757"/>
                  </a:cubicBezTo>
                  <a:cubicBezTo>
                    <a:pt x="12724" y="2790"/>
                    <a:pt x="19460" y="0"/>
                    <a:pt x="26484" y="0"/>
                  </a:cubicBezTo>
                  <a:close/>
                </a:path>
              </a:pathLst>
            </a:custGeom>
            <a:blipFill>
              <a:blip r:embed="rId10"/>
              <a:stretch>
                <a:fillRect l="0" t="-1422" r="0" b="-1422"/>
              </a:stretch>
            </a:blipFill>
          </p:spPr>
        </p:sp>
      </p:grpSp>
      <p:sp>
        <p:nvSpPr>
          <p:cNvPr name="Freeform 13" id="13"/>
          <p:cNvSpPr/>
          <p:nvPr/>
        </p:nvSpPr>
        <p:spPr>
          <a:xfrm flipH="false" flipV="false" rot="0">
            <a:off x="15042028" y="723828"/>
            <a:ext cx="2217272" cy="1132656"/>
          </a:xfrm>
          <a:custGeom>
            <a:avLst/>
            <a:gdLst/>
            <a:ahLst/>
            <a:cxnLst/>
            <a:rect r="r" b="b" t="t" l="l"/>
            <a:pathLst>
              <a:path h="1132656" w="2217272">
                <a:moveTo>
                  <a:pt x="0" y="0"/>
                </a:moveTo>
                <a:lnTo>
                  <a:pt x="2217272" y="0"/>
                </a:lnTo>
                <a:lnTo>
                  <a:pt x="2217272" y="1132657"/>
                </a:lnTo>
                <a:lnTo>
                  <a:pt x="0" y="1132657"/>
                </a:lnTo>
                <a:lnTo>
                  <a:pt x="0" y="0"/>
                </a:lnTo>
                <a:close/>
              </a:path>
            </a:pathLst>
          </a:custGeom>
          <a:blipFill>
            <a:blip r:embed="rId11"/>
            <a:stretch>
              <a:fillRect l="0" t="0" r="0" b="0"/>
            </a:stretch>
          </a:blipFill>
        </p:spPr>
      </p:sp>
      <p:sp>
        <p:nvSpPr>
          <p:cNvPr name="TextBox 14" id="14"/>
          <p:cNvSpPr txBox="true"/>
          <p:nvPr/>
        </p:nvSpPr>
        <p:spPr>
          <a:xfrm rot="0">
            <a:off x="2509590" y="1404456"/>
            <a:ext cx="5082423" cy="1903489"/>
          </a:xfrm>
          <a:prstGeom prst="rect">
            <a:avLst/>
          </a:prstGeom>
        </p:spPr>
        <p:txBody>
          <a:bodyPr anchor="t" rtlCol="false" tIns="0" lIns="0" bIns="0" rIns="0">
            <a:spAutoFit/>
          </a:bodyPr>
          <a:lstStyle/>
          <a:p>
            <a:pPr algn="l">
              <a:lnSpc>
                <a:spcPts val="7360"/>
              </a:lnSpc>
            </a:pPr>
            <a:r>
              <a:rPr lang="en-US" sz="7145">
                <a:solidFill>
                  <a:srgbClr val="0E2F5F"/>
                </a:solidFill>
                <a:latin typeface="Barlow Condensed"/>
                <a:ea typeface="Barlow Condensed"/>
                <a:cs typeface="Barlow Condensed"/>
                <a:sym typeface="Barlow Condensed"/>
              </a:rPr>
              <a:t>ĐỒ ÁN CHUYÊN NGÀNH 1</a:t>
            </a:r>
          </a:p>
        </p:txBody>
      </p:sp>
      <p:sp>
        <p:nvSpPr>
          <p:cNvPr name="TextBox 15" id="15"/>
          <p:cNvSpPr txBox="true"/>
          <p:nvPr/>
        </p:nvSpPr>
        <p:spPr>
          <a:xfrm rot="0">
            <a:off x="2412807" y="3557488"/>
            <a:ext cx="8023450" cy="2840428"/>
          </a:xfrm>
          <a:prstGeom prst="rect">
            <a:avLst/>
          </a:prstGeom>
        </p:spPr>
        <p:txBody>
          <a:bodyPr anchor="t" rtlCol="false" tIns="0" lIns="0" bIns="0" rIns="0">
            <a:spAutoFit/>
          </a:bodyPr>
          <a:lstStyle/>
          <a:p>
            <a:pPr algn="l">
              <a:lnSpc>
                <a:spcPts val="7360"/>
              </a:lnSpc>
            </a:pPr>
            <a:r>
              <a:rPr lang="en-US" sz="7145" b="true">
                <a:solidFill>
                  <a:srgbClr val="0E2F5F"/>
                </a:solidFill>
                <a:latin typeface="Barlow Condensed Bold"/>
                <a:ea typeface="Barlow Condensed Bold"/>
                <a:cs typeface="Barlow Condensed Bold"/>
                <a:sym typeface="Barlow Condensed Bold"/>
              </a:rPr>
              <a:t>HỆ THỐNG CỬA KHÓA NHẬN DIỆN KHUÔN MẶT BẰNG ESP32 CAM</a:t>
            </a:r>
          </a:p>
        </p:txBody>
      </p:sp>
      <p:sp>
        <p:nvSpPr>
          <p:cNvPr name="TextBox 16" id="16"/>
          <p:cNvSpPr txBox="true"/>
          <p:nvPr/>
        </p:nvSpPr>
        <p:spPr>
          <a:xfrm rot="0">
            <a:off x="2509590" y="6544224"/>
            <a:ext cx="5334215" cy="502402"/>
          </a:xfrm>
          <a:prstGeom prst="rect">
            <a:avLst/>
          </a:prstGeom>
        </p:spPr>
        <p:txBody>
          <a:bodyPr anchor="t" rtlCol="false" tIns="0" lIns="0" bIns="0" rIns="0">
            <a:spAutoFit/>
          </a:bodyPr>
          <a:lstStyle/>
          <a:p>
            <a:pPr algn="just">
              <a:lnSpc>
                <a:spcPts val="4009"/>
              </a:lnSpc>
            </a:pPr>
            <a:r>
              <a:rPr lang="en-US" sz="2864" b="true">
                <a:solidFill>
                  <a:srgbClr val="021828"/>
                </a:solidFill>
                <a:latin typeface="Aileron Bold"/>
                <a:ea typeface="Aileron Bold"/>
                <a:cs typeface="Aileron Bold"/>
                <a:sym typeface="Aileron Bold"/>
              </a:rPr>
              <a:t>GVHD: ThS. Trần Thị Trà Vinh</a:t>
            </a:r>
          </a:p>
        </p:txBody>
      </p:sp>
      <p:sp>
        <p:nvSpPr>
          <p:cNvPr name="TextBox 17" id="17"/>
          <p:cNvSpPr txBox="true"/>
          <p:nvPr/>
        </p:nvSpPr>
        <p:spPr>
          <a:xfrm rot="0">
            <a:off x="2509590" y="7189501"/>
            <a:ext cx="6634410" cy="502402"/>
          </a:xfrm>
          <a:prstGeom prst="rect">
            <a:avLst/>
          </a:prstGeom>
        </p:spPr>
        <p:txBody>
          <a:bodyPr anchor="t" rtlCol="false" tIns="0" lIns="0" bIns="0" rIns="0">
            <a:spAutoFit/>
          </a:bodyPr>
          <a:lstStyle/>
          <a:p>
            <a:pPr algn="just">
              <a:lnSpc>
                <a:spcPts val="4009"/>
              </a:lnSpc>
            </a:pPr>
            <a:r>
              <a:rPr lang="en-US" sz="2864" b="true">
                <a:solidFill>
                  <a:srgbClr val="021828"/>
                </a:solidFill>
                <a:latin typeface="Aileron Bold"/>
                <a:ea typeface="Aileron Bold"/>
                <a:cs typeface="Aileron Bold"/>
                <a:sym typeface="Aileron Bold"/>
              </a:rPr>
              <a:t>Sinh viên: Võ Quốc Hoàng 22IT103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34028" y="6733028"/>
            <a:ext cx="5050544" cy="5050544"/>
          </a:xfrm>
          <a:custGeom>
            <a:avLst/>
            <a:gdLst/>
            <a:ahLst/>
            <a:cxnLst/>
            <a:rect r="r" b="b" t="t" l="l"/>
            <a:pathLst>
              <a:path h="5050544" w="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4392170"/>
            <a:ext cx="5650143" cy="5894830"/>
            <a:chOff x="0" y="0"/>
            <a:chExt cx="1488104" cy="1552548"/>
          </a:xfrm>
        </p:grpSpPr>
        <p:sp>
          <p:nvSpPr>
            <p:cNvPr name="Freeform 4" id="4"/>
            <p:cNvSpPr/>
            <p:nvPr/>
          </p:nvSpPr>
          <p:spPr>
            <a:xfrm flipH="false" flipV="false" rot="0">
              <a:off x="0" y="0"/>
              <a:ext cx="1488104" cy="1552548"/>
            </a:xfrm>
            <a:custGeom>
              <a:avLst/>
              <a:gdLst/>
              <a:ahLst/>
              <a:cxnLst/>
              <a:rect r="r" b="b" t="t" l="l"/>
              <a:pathLst>
                <a:path h="1552548" w="1488104">
                  <a:moveTo>
                    <a:pt x="0" y="0"/>
                  </a:moveTo>
                  <a:lnTo>
                    <a:pt x="1488104" y="0"/>
                  </a:lnTo>
                  <a:lnTo>
                    <a:pt x="1488104" y="1552548"/>
                  </a:lnTo>
                  <a:lnTo>
                    <a:pt x="0" y="1552548"/>
                  </a:lnTo>
                  <a:close/>
                </a:path>
              </a:pathLst>
            </a:custGeom>
            <a:solidFill>
              <a:srgbClr val="E1EDFC"/>
            </a:solidFill>
          </p:spPr>
        </p:sp>
        <p:sp>
          <p:nvSpPr>
            <p:cNvPr name="TextBox 5" id="5"/>
            <p:cNvSpPr txBox="true"/>
            <p:nvPr/>
          </p:nvSpPr>
          <p:spPr>
            <a:xfrm>
              <a:off x="0" y="-47625"/>
              <a:ext cx="1488104" cy="1600173"/>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4648406" y="1028700"/>
            <a:ext cx="1858734" cy="185873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false" flipV="false" rot="0">
            <a:off x="5277754" y="1509529"/>
            <a:ext cx="600038" cy="897076"/>
          </a:xfrm>
          <a:custGeom>
            <a:avLst/>
            <a:gdLst/>
            <a:ahLst/>
            <a:cxnLst/>
            <a:rect r="r" b="b" t="t" l="l"/>
            <a:pathLst>
              <a:path h="897076" w="600038">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7471211" y="8124508"/>
            <a:ext cx="2763919" cy="882511"/>
          </a:xfrm>
          <a:custGeom>
            <a:avLst/>
            <a:gdLst/>
            <a:ahLst/>
            <a:cxnLst/>
            <a:rect r="r" b="b" t="t" l="l"/>
            <a:pathLst>
              <a:path h="882511" w="2763919">
                <a:moveTo>
                  <a:pt x="0" y="0"/>
                </a:moveTo>
                <a:lnTo>
                  <a:pt x="2763919" y="0"/>
                </a:lnTo>
                <a:lnTo>
                  <a:pt x="2763919" y="882510"/>
                </a:lnTo>
                <a:lnTo>
                  <a:pt x="0" y="8825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0731524" y="8485125"/>
            <a:ext cx="1483489" cy="458533"/>
          </a:xfrm>
          <a:custGeom>
            <a:avLst/>
            <a:gdLst/>
            <a:ahLst/>
            <a:cxnLst/>
            <a:rect r="r" b="b" t="t" l="l"/>
            <a:pathLst>
              <a:path h="458533" w="1483489">
                <a:moveTo>
                  <a:pt x="0" y="0"/>
                </a:moveTo>
                <a:lnTo>
                  <a:pt x="1483490" y="0"/>
                </a:lnTo>
                <a:lnTo>
                  <a:pt x="1483490" y="458533"/>
                </a:lnTo>
                <a:lnTo>
                  <a:pt x="0" y="4585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7310031" y="1632292"/>
            <a:ext cx="4904983" cy="1927993"/>
          </a:xfrm>
          <a:prstGeom prst="rect">
            <a:avLst/>
          </a:prstGeom>
        </p:spPr>
        <p:txBody>
          <a:bodyPr anchor="t" rtlCol="false" tIns="0" lIns="0" bIns="0" rIns="0">
            <a:spAutoFit/>
          </a:bodyPr>
          <a:lstStyle/>
          <a:p>
            <a:pPr algn="l">
              <a:lnSpc>
                <a:spcPts val="7619"/>
              </a:lnSpc>
            </a:pPr>
            <a:r>
              <a:rPr lang="en-US" sz="5999" b="true">
                <a:solidFill>
                  <a:srgbClr val="0E2F5F"/>
                </a:solidFill>
                <a:latin typeface="Barlow Condensed Bold"/>
                <a:ea typeface="Barlow Condensed Bold"/>
                <a:cs typeface="Barlow Condensed Bold"/>
                <a:sym typeface="Barlow Condensed Bold"/>
              </a:rPr>
              <a:t>Giới thiệu tổng quan đề tài</a:t>
            </a:r>
          </a:p>
        </p:txBody>
      </p:sp>
      <p:sp>
        <p:nvSpPr>
          <p:cNvPr name="Freeform 13" id="13"/>
          <p:cNvSpPr/>
          <p:nvPr/>
        </p:nvSpPr>
        <p:spPr>
          <a:xfrm flipH="false" flipV="false" rot="0">
            <a:off x="16264511" y="5348601"/>
            <a:ext cx="1025128" cy="1025128"/>
          </a:xfrm>
          <a:custGeom>
            <a:avLst/>
            <a:gdLst/>
            <a:ahLst/>
            <a:cxnLst/>
            <a:rect r="r" b="b" t="t" l="l"/>
            <a:pathLst>
              <a:path h="1025128" w="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028700" y="3896373"/>
            <a:ext cx="3260313" cy="372809"/>
          </a:xfrm>
          <a:prstGeom prst="rect">
            <a:avLst/>
          </a:prstGeom>
        </p:spPr>
        <p:txBody>
          <a:bodyPr anchor="t" rtlCol="false" tIns="0" lIns="0" bIns="0" rIns="0">
            <a:spAutoFit/>
          </a:bodyPr>
          <a:lstStyle/>
          <a:p>
            <a:pPr algn="just">
              <a:lnSpc>
                <a:spcPts val="3080"/>
              </a:lnSpc>
            </a:pPr>
            <a:r>
              <a:rPr lang="en-US" sz="2200" b="true">
                <a:solidFill>
                  <a:srgbClr val="021828"/>
                </a:solidFill>
                <a:latin typeface="Aileron Bold"/>
                <a:ea typeface="Aileron Bold"/>
                <a:cs typeface="Aileron Bold"/>
                <a:sym typeface="Aileron Bold"/>
              </a:rPr>
              <a:t>Lý do lựa chọn đề tài</a:t>
            </a:r>
          </a:p>
        </p:txBody>
      </p:sp>
      <p:sp>
        <p:nvSpPr>
          <p:cNvPr name="TextBox 15" id="15"/>
          <p:cNvSpPr txBox="true"/>
          <p:nvPr/>
        </p:nvSpPr>
        <p:spPr>
          <a:xfrm rot="0">
            <a:off x="1310015" y="4683254"/>
            <a:ext cx="5087513" cy="5927342"/>
          </a:xfrm>
          <a:prstGeom prst="rect">
            <a:avLst/>
          </a:prstGeom>
        </p:spPr>
        <p:txBody>
          <a:bodyPr anchor="t" rtlCol="false" tIns="0" lIns="0" bIns="0" rIns="0">
            <a:spAutoFit/>
          </a:bodyPr>
          <a:lstStyle/>
          <a:p>
            <a:pPr algn="l">
              <a:lnSpc>
                <a:spcPts val="2937"/>
              </a:lnSpc>
              <a:spcBef>
                <a:spcPct val="0"/>
              </a:spcBef>
            </a:pPr>
            <a:r>
              <a:rPr lang="en-US" sz="2098">
                <a:solidFill>
                  <a:srgbClr val="000000"/>
                </a:solidFill>
                <a:latin typeface="Noto Sans"/>
                <a:ea typeface="Noto Sans"/>
                <a:cs typeface="Noto Sans"/>
                <a:sym typeface="Noto Sans"/>
              </a:rPr>
              <a:t>Trong thời đại công nghệ số, các hệ thống an ninh thông minh ngày càng quan trọng. Phương pháp kiểm soát truy cập truyền thống như chìa khóa, mã số, thẻ từ dễ mất, thiếu bảo mật. Công nghệ nhận diện khuôn mặt mang lại độ chính xác, an toàn và tiện lợi.</a:t>
            </a:r>
          </a:p>
          <a:p>
            <a:pPr algn="l">
              <a:lnSpc>
                <a:spcPts val="2937"/>
              </a:lnSpc>
              <a:spcBef>
                <a:spcPct val="0"/>
              </a:spcBef>
            </a:pPr>
            <a:r>
              <a:rPr lang="en-US" sz="2098">
                <a:solidFill>
                  <a:srgbClr val="000000"/>
                </a:solidFill>
                <a:latin typeface="Noto Sans"/>
                <a:ea typeface="Noto Sans"/>
                <a:cs typeface="Noto Sans"/>
                <a:sym typeface="Noto Sans"/>
              </a:rPr>
              <a:t>Đề tài này đáp ứng các mục tiêu:</a:t>
            </a:r>
          </a:p>
          <a:p>
            <a:pPr algn="l" marL="453048" indent="-226524" lvl="1">
              <a:lnSpc>
                <a:spcPts val="2937"/>
              </a:lnSpc>
              <a:spcBef>
                <a:spcPct val="0"/>
              </a:spcBef>
              <a:buFont typeface="Arial"/>
              <a:buChar char="•"/>
            </a:pPr>
            <a:r>
              <a:rPr lang="en-US" sz="2098">
                <a:solidFill>
                  <a:srgbClr val="000000"/>
                </a:solidFill>
                <a:latin typeface="Noto Sans"/>
                <a:ea typeface="Noto Sans"/>
                <a:cs typeface="Noto Sans"/>
                <a:sym typeface="Noto Sans"/>
              </a:rPr>
              <a:t>Tính thực tiễn</a:t>
            </a:r>
          </a:p>
          <a:p>
            <a:pPr algn="l" marL="453048" indent="-226524" lvl="1">
              <a:lnSpc>
                <a:spcPts val="2937"/>
              </a:lnSpc>
              <a:spcBef>
                <a:spcPct val="0"/>
              </a:spcBef>
              <a:buFont typeface="Arial"/>
              <a:buChar char="•"/>
            </a:pPr>
            <a:r>
              <a:rPr lang="en-US" sz="2098">
                <a:solidFill>
                  <a:srgbClr val="000000"/>
                </a:solidFill>
                <a:latin typeface="Noto Sans"/>
                <a:ea typeface="Noto Sans"/>
                <a:cs typeface="Noto Sans"/>
                <a:sym typeface="Noto Sans"/>
              </a:rPr>
              <a:t>Chi phí thấp</a:t>
            </a:r>
          </a:p>
          <a:p>
            <a:pPr algn="l" marL="453048" indent="-226524" lvl="1">
              <a:lnSpc>
                <a:spcPts val="2937"/>
              </a:lnSpc>
              <a:spcBef>
                <a:spcPct val="0"/>
              </a:spcBef>
              <a:buFont typeface="Arial"/>
              <a:buChar char="•"/>
            </a:pPr>
            <a:r>
              <a:rPr lang="en-US" sz="2098">
                <a:solidFill>
                  <a:srgbClr val="000000"/>
                </a:solidFill>
                <a:latin typeface="Noto Sans"/>
                <a:ea typeface="Noto Sans"/>
                <a:cs typeface="Noto Sans"/>
                <a:sym typeface="Noto Sans"/>
              </a:rPr>
              <a:t>Khả năng mở rộng</a:t>
            </a:r>
          </a:p>
          <a:p>
            <a:pPr algn="l" marL="453048" indent="-226524" lvl="1">
              <a:lnSpc>
                <a:spcPts val="2937"/>
              </a:lnSpc>
              <a:spcBef>
                <a:spcPct val="0"/>
              </a:spcBef>
              <a:buFont typeface="Arial"/>
              <a:buChar char="•"/>
            </a:pPr>
            <a:r>
              <a:rPr lang="en-US" sz="2098">
                <a:solidFill>
                  <a:srgbClr val="000000"/>
                </a:solidFill>
                <a:latin typeface="Noto Sans"/>
                <a:ea typeface="Noto Sans"/>
                <a:cs typeface="Noto Sans"/>
                <a:sym typeface="Noto Sans"/>
              </a:rPr>
              <a:t>Đam mê công nghệ</a:t>
            </a:r>
          </a:p>
          <a:p>
            <a:pPr algn="l">
              <a:lnSpc>
                <a:spcPts val="2937"/>
              </a:lnSpc>
              <a:spcBef>
                <a:spcPct val="0"/>
              </a:spcBef>
            </a:pPr>
          </a:p>
          <a:p>
            <a:pPr algn="l">
              <a:lnSpc>
                <a:spcPts val="2937"/>
              </a:lnSpc>
              <a:spcBef>
                <a:spcPct val="0"/>
              </a:spcBef>
            </a:pPr>
          </a:p>
          <a:p>
            <a:pPr algn="l">
              <a:lnSpc>
                <a:spcPts val="2937"/>
              </a:lnSpc>
              <a:spcBef>
                <a:spcPct val="0"/>
              </a:spcBef>
            </a:pPr>
          </a:p>
          <a:p>
            <a:pPr algn="l">
              <a:lnSpc>
                <a:spcPts val="2937"/>
              </a:lnSpc>
              <a:spcBef>
                <a:spcPct val="0"/>
              </a:spcBef>
            </a:pPr>
          </a:p>
        </p:txBody>
      </p:sp>
      <p:sp>
        <p:nvSpPr>
          <p:cNvPr name="TextBox 16" id="16"/>
          <p:cNvSpPr txBox="true"/>
          <p:nvPr/>
        </p:nvSpPr>
        <p:spPr>
          <a:xfrm rot="0">
            <a:off x="7471211" y="3896373"/>
            <a:ext cx="3260313" cy="372809"/>
          </a:xfrm>
          <a:prstGeom prst="rect">
            <a:avLst/>
          </a:prstGeom>
        </p:spPr>
        <p:txBody>
          <a:bodyPr anchor="t" rtlCol="false" tIns="0" lIns="0" bIns="0" rIns="0">
            <a:spAutoFit/>
          </a:bodyPr>
          <a:lstStyle/>
          <a:p>
            <a:pPr algn="just">
              <a:lnSpc>
                <a:spcPts val="3080"/>
              </a:lnSpc>
            </a:pPr>
            <a:r>
              <a:rPr lang="en-US" sz="2200" b="true">
                <a:solidFill>
                  <a:srgbClr val="021828"/>
                </a:solidFill>
                <a:latin typeface="Aileron Bold"/>
                <a:ea typeface="Aileron Bold"/>
                <a:cs typeface="Aileron Bold"/>
                <a:sym typeface="Aileron Bold"/>
              </a:rPr>
              <a:t>Về phần cứng</a:t>
            </a:r>
          </a:p>
        </p:txBody>
      </p:sp>
      <p:sp>
        <p:nvSpPr>
          <p:cNvPr name="TextBox 17" id="17"/>
          <p:cNvSpPr txBox="true"/>
          <p:nvPr/>
        </p:nvSpPr>
        <p:spPr>
          <a:xfrm rot="0">
            <a:off x="7691373" y="6959520"/>
            <a:ext cx="5087513" cy="3327480"/>
          </a:xfrm>
          <a:prstGeom prst="rect">
            <a:avLst/>
          </a:prstGeom>
        </p:spPr>
        <p:txBody>
          <a:bodyPr anchor="t" rtlCol="false" tIns="0" lIns="0" bIns="0" rIns="0">
            <a:spAutoFit/>
          </a:bodyPr>
          <a:lstStyle/>
          <a:p>
            <a:pPr algn="l" marL="453048" indent="-226524" lvl="1">
              <a:lnSpc>
                <a:spcPts val="2937"/>
              </a:lnSpc>
              <a:buFont typeface="Arial"/>
              <a:buChar char="•"/>
            </a:pPr>
            <a:r>
              <a:rPr lang="en-US" sz="2098">
                <a:solidFill>
                  <a:srgbClr val="000000"/>
                </a:solidFill>
                <a:latin typeface="Noto Sans"/>
                <a:ea typeface="Noto Sans"/>
                <a:cs typeface="Noto Sans"/>
                <a:sym typeface="Noto Sans"/>
              </a:rPr>
              <a:t>ES</a:t>
            </a:r>
            <a:r>
              <a:rPr lang="en-US" sz="2098">
                <a:solidFill>
                  <a:srgbClr val="000000"/>
                </a:solidFill>
                <a:latin typeface="Noto Sans"/>
                <a:ea typeface="Noto Sans"/>
                <a:cs typeface="Noto Sans"/>
                <a:sym typeface="Noto Sans"/>
              </a:rPr>
              <a:t>P32-CAM</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Relay module 1 kênh</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Khóa điện tử solenoid 12V</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Nguồn điện 12V</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Tụ điện 100uF 16V</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LED (xanh, đỏ)</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IC 7805, </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Transistor TIP122</a:t>
            </a:r>
          </a:p>
          <a:p>
            <a:pPr algn="l">
              <a:lnSpc>
                <a:spcPts val="2937"/>
              </a:lnSpc>
            </a:pPr>
          </a:p>
        </p:txBody>
      </p:sp>
      <p:sp>
        <p:nvSpPr>
          <p:cNvPr name="TextBox 18" id="18"/>
          <p:cNvSpPr txBox="true"/>
          <p:nvPr/>
        </p:nvSpPr>
        <p:spPr>
          <a:xfrm rot="0">
            <a:off x="12046451" y="3896373"/>
            <a:ext cx="3260313" cy="372809"/>
          </a:xfrm>
          <a:prstGeom prst="rect">
            <a:avLst/>
          </a:prstGeom>
        </p:spPr>
        <p:txBody>
          <a:bodyPr anchor="t" rtlCol="false" tIns="0" lIns="0" bIns="0" rIns="0">
            <a:spAutoFit/>
          </a:bodyPr>
          <a:lstStyle/>
          <a:p>
            <a:pPr algn="just">
              <a:lnSpc>
                <a:spcPts val="3080"/>
              </a:lnSpc>
            </a:pPr>
            <a:r>
              <a:rPr lang="en-US" sz="2200" b="true">
                <a:solidFill>
                  <a:srgbClr val="021828"/>
                </a:solidFill>
                <a:latin typeface="Aileron Bold"/>
                <a:ea typeface="Aileron Bold"/>
                <a:cs typeface="Aileron Bold"/>
                <a:sym typeface="Aileron Bold"/>
              </a:rPr>
              <a:t>Về phần mềm</a:t>
            </a:r>
          </a:p>
        </p:txBody>
      </p:sp>
      <p:sp>
        <p:nvSpPr>
          <p:cNvPr name="TextBox 19" id="19"/>
          <p:cNvSpPr txBox="true"/>
          <p:nvPr/>
        </p:nvSpPr>
        <p:spPr>
          <a:xfrm rot="0">
            <a:off x="11905297" y="4519775"/>
            <a:ext cx="5087513" cy="2213253"/>
          </a:xfrm>
          <a:prstGeom prst="rect">
            <a:avLst/>
          </a:prstGeom>
        </p:spPr>
        <p:txBody>
          <a:bodyPr anchor="t" rtlCol="false" tIns="0" lIns="0" bIns="0" rIns="0">
            <a:spAutoFit/>
          </a:bodyPr>
          <a:lstStyle/>
          <a:p>
            <a:pPr algn="l" marL="453048" indent="-226524" lvl="1">
              <a:lnSpc>
                <a:spcPts val="2937"/>
              </a:lnSpc>
              <a:buFont typeface="Arial"/>
              <a:buChar char="•"/>
            </a:pPr>
            <a:r>
              <a:rPr lang="en-US" sz="2098">
                <a:solidFill>
                  <a:srgbClr val="000000"/>
                </a:solidFill>
                <a:latin typeface="Noto Sans"/>
                <a:ea typeface="Noto Sans"/>
                <a:cs typeface="Noto Sans"/>
                <a:sym typeface="Noto Sans"/>
              </a:rPr>
              <a:t>Chương trình điều khiển được viết bằng Arduino IDE, lập trình trên nền tảng C/C++.</a:t>
            </a:r>
          </a:p>
          <a:p>
            <a:pPr algn="l" marL="453048" indent="-226524" lvl="1">
              <a:lnSpc>
                <a:spcPts val="2937"/>
              </a:lnSpc>
              <a:buFont typeface="Arial"/>
              <a:buChar char="•"/>
            </a:pPr>
            <a:r>
              <a:rPr lang="en-US" sz="2098">
                <a:solidFill>
                  <a:srgbClr val="000000"/>
                </a:solidFill>
                <a:latin typeface="Noto Sans"/>
                <a:ea typeface="Noto Sans"/>
                <a:cs typeface="Noto Sans"/>
                <a:sym typeface="Noto Sans"/>
              </a:rPr>
              <a:t>Sử dụng thư viện ESP32 face recognition (ESP-WHO)  hỗ trợ nhận diện khuôn mặt.</a:t>
            </a:r>
          </a:p>
        </p:txBody>
      </p:sp>
      <p:sp>
        <p:nvSpPr>
          <p:cNvPr name="Freeform 20" id="20"/>
          <p:cNvSpPr/>
          <p:nvPr/>
        </p:nvSpPr>
        <p:spPr>
          <a:xfrm flipH="false" flipV="false" rot="0">
            <a:off x="15042028" y="723828"/>
            <a:ext cx="2217272" cy="1132656"/>
          </a:xfrm>
          <a:custGeom>
            <a:avLst/>
            <a:gdLst/>
            <a:ahLst/>
            <a:cxnLst/>
            <a:rect r="r" b="b" t="t" l="l"/>
            <a:pathLst>
              <a:path h="1132656" w="2217272">
                <a:moveTo>
                  <a:pt x="0" y="0"/>
                </a:moveTo>
                <a:lnTo>
                  <a:pt x="2217272" y="0"/>
                </a:lnTo>
                <a:lnTo>
                  <a:pt x="2217272" y="1132657"/>
                </a:lnTo>
                <a:lnTo>
                  <a:pt x="0" y="1132657"/>
                </a:lnTo>
                <a:lnTo>
                  <a:pt x="0" y="0"/>
                </a:lnTo>
                <a:close/>
              </a:path>
            </a:pathLst>
          </a:custGeom>
          <a:blipFill>
            <a:blip r:embed="rId10"/>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817" y="2782372"/>
            <a:ext cx="3353620" cy="5894830"/>
            <a:chOff x="0" y="0"/>
            <a:chExt cx="883258" cy="1552548"/>
          </a:xfrm>
        </p:grpSpPr>
        <p:sp>
          <p:nvSpPr>
            <p:cNvPr name="Freeform 3" id="3"/>
            <p:cNvSpPr/>
            <p:nvPr/>
          </p:nvSpPr>
          <p:spPr>
            <a:xfrm flipH="false" flipV="false" rot="0">
              <a:off x="0" y="0"/>
              <a:ext cx="883258" cy="1552548"/>
            </a:xfrm>
            <a:custGeom>
              <a:avLst/>
              <a:gdLst/>
              <a:ahLst/>
              <a:cxnLst/>
              <a:rect r="r" b="b" t="t" l="l"/>
              <a:pathLst>
                <a:path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cap="rnd">
              <a:noFill/>
              <a:prstDash val="solid"/>
              <a:round/>
            </a:ln>
          </p:spPr>
        </p:sp>
        <p:sp>
          <p:nvSpPr>
            <p:cNvPr name="TextBox 4" id="4"/>
            <p:cNvSpPr txBox="true"/>
            <p:nvPr/>
          </p:nvSpPr>
          <p:spPr>
            <a:xfrm>
              <a:off x="0" y="-47625"/>
              <a:ext cx="883258" cy="1600173"/>
            </a:xfrm>
            <a:prstGeom prst="rect">
              <a:avLst/>
            </a:prstGeom>
          </p:spPr>
          <p:txBody>
            <a:bodyPr anchor="ctr" rtlCol="false" tIns="50800" lIns="50800" bIns="50800" rIns="50800"/>
            <a:lstStyle/>
            <a:p>
              <a:pPr algn="ctr" marL="0" indent="0" lvl="0">
                <a:lnSpc>
                  <a:spcPts val="2800"/>
                </a:lnSpc>
                <a:spcBef>
                  <a:spcPct val="0"/>
                </a:spcBef>
              </a:pPr>
            </a:p>
          </p:txBody>
        </p:sp>
      </p:grpSp>
      <p:sp>
        <p:nvSpPr>
          <p:cNvPr name="Freeform 5" id="5"/>
          <p:cNvSpPr/>
          <p:nvPr/>
        </p:nvSpPr>
        <p:spPr>
          <a:xfrm flipH="false" flipV="false" rot="0">
            <a:off x="4044420" y="-1848214"/>
            <a:ext cx="3691868" cy="3691868"/>
          </a:xfrm>
          <a:custGeom>
            <a:avLst/>
            <a:gdLst/>
            <a:ahLst/>
            <a:cxnLst/>
            <a:rect r="r" b="b" t="t" l="l"/>
            <a:pathLst>
              <a:path h="3691868" w="3691868">
                <a:moveTo>
                  <a:pt x="0" y="0"/>
                </a:moveTo>
                <a:lnTo>
                  <a:pt x="3691867" y="0"/>
                </a:lnTo>
                <a:lnTo>
                  <a:pt x="3691867"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396943" y="1028700"/>
            <a:ext cx="647477" cy="647477"/>
          </a:xfrm>
          <a:custGeom>
            <a:avLst/>
            <a:gdLst/>
            <a:ahLst/>
            <a:cxnLst/>
            <a:rect r="r" b="b" t="t" l="l"/>
            <a:pathLst>
              <a:path h="647477" w="647477">
                <a:moveTo>
                  <a:pt x="0" y="0"/>
                </a:moveTo>
                <a:lnTo>
                  <a:pt x="647477" y="0"/>
                </a:lnTo>
                <a:lnTo>
                  <a:pt x="647477" y="647477"/>
                </a:lnTo>
                <a:lnTo>
                  <a:pt x="0" y="647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144000" y="4065391"/>
            <a:ext cx="8874183" cy="3003051"/>
          </a:xfrm>
          <a:custGeom>
            <a:avLst/>
            <a:gdLst/>
            <a:ahLst/>
            <a:cxnLst/>
            <a:rect r="r" b="b" t="t" l="l"/>
            <a:pathLst>
              <a:path h="3003051" w="8874183">
                <a:moveTo>
                  <a:pt x="0" y="0"/>
                </a:moveTo>
                <a:lnTo>
                  <a:pt x="8874183" y="0"/>
                </a:lnTo>
                <a:lnTo>
                  <a:pt x="8874183" y="3003051"/>
                </a:lnTo>
                <a:lnTo>
                  <a:pt x="0" y="3003051"/>
                </a:lnTo>
                <a:lnTo>
                  <a:pt x="0" y="0"/>
                </a:lnTo>
                <a:close/>
              </a:path>
            </a:pathLst>
          </a:custGeom>
          <a:blipFill>
            <a:blip r:embed="rId6"/>
            <a:stretch>
              <a:fillRect l="0" t="0" r="0" b="0"/>
            </a:stretch>
          </a:blipFill>
        </p:spPr>
      </p:sp>
      <p:sp>
        <p:nvSpPr>
          <p:cNvPr name="Freeform 8" id="8"/>
          <p:cNvSpPr/>
          <p:nvPr/>
        </p:nvSpPr>
        <p:spPr>
          <a:xfrm flipH="false" flipV="false" rot="0">
            <a:off x="765881" y="3170877"/>
            <a:ext cx="8627377" cy="5562214"/>
          </a:xfrm>
          <a:custGeom>
            <a:avLst/>
            <a:gdLst/>
            <a:ahLst/>
            <a:cxnLst/>
            <a:rect r="r" b="b" t="t" l="l"/>
            <a:pathLst>
              <a:path h="5562214" w="8627377">
                <a:moveTo>
                  <a:pt x="0" y="0"/>
                </a:moveTo>
                <a:lnTo>
                  <a:pt x="8627376" y="0"/>
                </a:lnTo>
                <a:lnTo>
                  <a:pt x="8627376" y="5562214"/>
                </a:lnTo>
                <a:lnTo>
                  <a:pt x="0" y="5562214"/>
                </a:lnTo>
                <a:lnTo>
                  <a:pt x="0" y="0"/>
                </a:lnTo>
                <a:close/>
              </a:path>
            </a:pathLst>
          </a:custGeom>
          <a:blipFill>
            <a:blip r:embed="rId7"/>
            <a:stretch>
              <a:fillRect l="0" t="0" r="0" b="0"/>
            </a:stretch>
          </a:blipFill>
        </p:spPr>
      </p:sp>
      <p:sp>
        <p:nvSpPr>
          <p:cNvPr name="TextBox 9" id="9"/>
          <p:cNvSpPr txBox="true"/>
          <p:nvPr/>
        </p:nvSpPr>
        <p:spPr>
          <a:xfrm rot="0">
            <a:off x="9770428" y="2891246"/>
            <a:ext cx="7710675" cy="820580"/>
          </a:xfrm>
          <a:prstGeom prst="rect">
            <a:avLst/>
          </a:prstGeom>
        </p:spPr>
        <p:txBody>
          <a:bodyPr anchor="t" rtlCol="false" tIns="0" lIns="0" bIns="0" rIns="0">
            <a:spAutoFit/>
          </a:bodyPr>
          <a:lstStyle/>
          <a:p>
            <a:pPr algn="r" marL="0" indent="0" lvl="0">
              <a:lnSpc>
                <a:spcPts val="6603"/>
              </a:lnSpc>
              <a:spcBef>
                <a:spcPct val="0"/>
              </a:spcBef>
            </a:pPr>
            <a:r>
              <a:rPr lang="en-US" b="true" sz="5199">
                <a:solidFill>
                  <a:srgbClr val="0E2F5F"/>
                </a:solidFill>
                <a:latin typeface="Montserrat Heavy"/>
                <a:ea typeface="Montserrat Heavy"/>
                <a:cs typeface="Montserrat Heavy"/>
                <a:sym typeface="Montserrat Heavy"/>
              </a:rPr>
              <a:t>Phân tích hệ thống</a:t>
            </a:r>
          </a:p>
        </p:txBody>
      </p:sp>
      <p:sp>
        <p:nvSpPr>
          <p:cNvPr name="TextBox 10" id="10"/>
          <p:cNvSpPr txBox="true"/>
          <p:nvPr/>
        </p:nvSpPr>
        <p:spPr>
          <a:xfrm rot="0">
            <a:off x="11692277" y="8087617"/>
            <a:ext cx="3349752" cy="382334"/>
          </a:xfrm>
          <a:prstGeom prst="rect">
            <a:avLst/>
          </a:prstGeom>
        </p:spPr>
        <p:txBody>
          <a:bodyPr anchor="t" rtlCol="false" tIns="0" lIns="0" bIns="0" rIns="0">
            <a:spAutoFit/>
          </a:bodyPr>
          <a:lstStyle/>
          <a:p>
            <a:pPr algn="just" marL="0" indent="0" lvl="0">
              <a:lnSpc>
                <a:spcPts val="3080"/>
              </a:lnSpc>
              <a:spcBef>
                <a:spcPct val="0"/>
              </a:spcBef>
            </a:pPr>
            <a:r>
              <a:rPr lang="en-US" b="true" sz="2200">
                <a:solidFill>
                  <a:srgbClr val="021828"/>
                </a:solidFill>
                <a:latin typeface="Saira Bold"/>
                <a:ea typeface="Saira Bold"/>
                <a:cs typeface="Saira Bold"/>
                <a:sym typeface="Saira Bold"/>
              </a:rPr>
              <a:t>Sơ đồ khối của hệ thống</a:t>
            </a:r>
          </a:p>
        </p:txBody>
      </p:sp>
      <p:sp>
        <p:nvSpPr>
          <p:cNvPr name="TextBox 11" id="11"/>
          <p:cNvSpPr txBox="true"/>
          <p:nvPr/>
        </p:nvSpPr>
        <p:spPr>
          <a:xfrm rot="0">
            <a:off x="3025344" y="8875966"/>
            <a:ext cx="3349752" cy="382334"/>
          </a:xfrm>
          <a:prstGeom prst="rect">
            <a:avLst/>
          </a:prstGeom>
        </p:spPr>
        <p:txBody>
          <a:bodyPr anchor="t" rtlCol="false" tIns="0" lIns="0" bIns="0" rIns="0">
            <a:spAutoFit/>
          </a:bodyPr>
          <a:lstStyle/>
          <a:p>
            <a:pPr algn="just" marL="0" indent="0" lvl="0">
              <a:lnSpc>
                <a:spcPts val="3080"/>
              </a:lnSpc>
              <a:spcBef>
                <a:spcPct val="0"/>
              </a:spcBef>
            </a:pPr>
            <a:r>
              <a:rPr lang="en-US" b="true" sz="2200">
                <a:solidFill>
                  <a:srgbClr val="021828"/>
                </a:solidFill>
                <a:latin typeface="Saira Bold"/>
                <a:ea typeface="Saira Bold"/>
                <a:cs typeface="Saira Bold"/>
                <a:sym typeface="Saira Bold"/>
              </a:rPr>
              <a:t>Sơ đồ mạch của hệ thống</a:t>
            </a:r>
          </a:p>
        </p:txBody>
      </p:sp>
      <p:sp>
        <p:nvSpPr>
          <p:cNvPr name="Freeform 12" id="12"/>
          <p:cNvSpPr/>
          <p:nvPr/>
        </p:nvSpPr>
        <p:spPr>
          <a:xfrm flipH="false" flipV="false" rot="0">
            <a:off x="15042028" y="723828"/>
            <a:ext cx="2217272" cy="1132656"/>
          </a:xfrm>
          <a:custGeom>
            <a:avLst/>
            <a:gdLst/>
            <a:ahLst/>
            <a:cxnLst/>
            <a:rect r="r" b="b" t="t" l="l"/>
            <a:pathLst>
              <a:path h="1132656" w="2217272">
                <a:moveTo>
                  <a:pt x="0" y="0"/>
                </a:moveTo>
                <a:lnTo>
                  <a:pt x="2217272" y="0"/>
                </a:lnTo>
                <a:lnTo>
                  <a:pt x="2217272" y="1132657"/>
                </a:lnTo>
                <a:lnTo>
                  <a:pt x="0" y="1132657"/>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934740" y="3460026"/>
            <a:ext cx="4643114" cy="665701"/>
            <a:chOff x="0" y="0"/>
            <a:chExt cx="1222878" cy="175329"/>
          </a:xfrm>
        </p:grpSpPr>
        <p:sp>
          <p:nvSpPr>
            <p:cNvPr name="Freeform 3" id="3"/>
            <p:cNvSpPr/>
            <p:nvPr/>
          </p:nvSpPr>
          <p:spPr>
            <a:xfrm flipH="false" flipV="false" rot="0">
              <a:off x="0" y="0"/>
              <a:ext cx="1222878" cy="175329"/>
            </a:xfrm>
            <a:custGeom>
              <a:avLst/>
              <a:gdLst/>
              <a:ahLst/>
              <a:cxnLst/>
              <a:rect r="r" b="b" t="t" l="l"/>
              <a:pathLst>
                <a:path h="175329" w="1222878">
                  <a:moveTo>
                    <a:pt x="85037" y="0"/>
                  </a:moveTo>
                  <a:lnTo>
                    <a:pt x="1137840" y="0"/>
                  </a:lnTo>
                  <a:cubicBezTo>
                    <a:pt x="1184805" y="0"/>
                    <a:pt x="1222878" y="38073"/>
                    <a:pt x="1222878" y="85037"/>
                  </a:cubicBezTo>
                  <a:lnTo>
                    <a:pt x="1222878" y="90291"/>
                  </a:lnTo>
                  <a:cubicBezTo>
                    <a:pt x="1222878" y="137256"/>
                    <a:pt x="1184805" y="175329"/>
                    <a:pt x="1137840" y="175329"/>
                  </a:cubicBezTo>
                  <a:lnTo>
                    <a:pt x="85037" y="175329"/>
                  </a:lnTo>
                  <a:cubicBezTo>
                    <a:pt x="38073" y="175329"/>
                    <a:pt x="0" y="137256"/>
                    <a:pt x="0" y="90291"/>
                  </a:cubicBezTo>
                  <a:lnTo>
                    <a:pt x="0" y="85037"/>
                  </a:lnTo>
                  <a:cubicBezTo>
                    <a:pt x="0" y="38073"/>
                    <a:pt x="38073" y="0"/>
                    <a:pt x="85037" y="0"/>
                  </a:cubicBezTo>
                  <a:close/>
                </a:path>
              </a:pathLst>
            </a:custGeom>
            <a:solidFill>
              <a:srgbClr val="3A577B"/>
            </a:solidFill>
          </p:spPr>
        </p:sp>
        <p:sp>
          <p:nvSpPr>
            <p:cNvPr name="TextBox 4" id="4"/>
            <p:cNvSpPr txBox="true"/>
            <p:nvPr/>
          </p:nvSpPr>
          <p:spPr>
            <a:xfrm>
              <a:off x="0" y="-47625"/>
              <a:ext cx="1222878" cy="222954"/>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1934740" y="5897137"/>
            <a:ext cx="4643114" cy="665701"/>
            <a:chOff x="0" y="0"/>
            <a:chExt cx="1222878" cy="175329"/>
          </a:xfrm>
        </p:grpSpPr>
        <p:sp>
          <p:nvSpPr>
            <p:cNvPr name="Freeform 6" id="6"/>
            <p:cNvSpPr/>
            <p:nvPr/>
          </p:nvSpPr>
          <p:spPr>
            <a:xfrm flipH="false" flipV="false" rot="0">
              <a:off x="0" y="0"/>
              <a:ext cx="1222878" cy="175329"/>
            </a:xfrm>
            <a:custGeom>
              <a:avLst/>
              <a:gdLst/>
              <a:ahLst/>
              <a:cxnLst/>
              <a:rect r="r" b="b" t="t" l="l"/>
              <a:pathLst>
                <a:path h="175329" w="1222878">
                  <a:moveTo>
                    <a:pt x="85037" y="0"/>
                  </a:moveTo>
                  <a:lnTo>
                    <a:pt x="1137840" y="0"/>
                  </a:lnTo>
                  <a:cubicBezTo>
                    <a:pt x="1184805" y="0"/>
                    <a:pt x="1222878" y="38073"/>
                    <a:pt x="1222878" y="85037"/>
                  </a:cubicBezTo>
                  <a:lnTo>
                    <a:pt x="1222878" y="90291"/>
                  </a:lnTo>
                  <a:cubicBezTo>
                    <a:pt x="1222878" y="137256"/>
                    <a:pt x="1184805" y="175329"/>
                    <a:pt x="1137840" y="175329"/>
                  </a:cubicBezTo>
                  <a:lnTo>
                    <a:pt x="85037" y="175329"/>
                  </a:lnTo>
                  <a:cubicBezTo>
                    <a:pt x="38073" y="175329"/>
                    <a:pt x="0" y="137256"/>
                    <a:pt x="0" y="90291"/>
                  </a:cubicBezTo>
                  <a:lnTo>
                    <a:pt x="0" y="85037"/>
                  </a:lnTo>
                  <a:cubicBezTo>
                    <a:pt x="0" y="38073"/>
                    <a:pt x="38073" y="0"/>
                    <a:pt x="85037" y="0"/>
                  </a:cubicBezTo>
                  <a:close/>
                </a:path>
              </a:pathLst>
            </a:custGeom>
            <a:solidFill>
              <a:srgbClr val="3A577B"/>
            </a:solidFill>
          </p:spPr>
        </p:sp>
        <p:sp>
          <p:nvSpPr>
            <p:cNvPr name="TextBox 7" id="7"/>
            <p:cNvSpPr txBox="true"/>
            <p:nvPr/>
          </p:nvSpPr>
          <p:spPr>
            <a:xfrm>
              <a:off x="0" y="-47625"/>
              <a:ext cx="1222878" cy="222954"/>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1934740" y="4244706"/>
            <a:ext cx="4643114" cy="1242856"/>
            <a:chOff x="0" y="0"/>
            <a:chExt cx="1222878" cy="327337"/>
          </a:xfrm>
        </p:grpSpPr>
        <p:sp>
          <p:nvSpPr>
            <p:cNvPr name="Freeform 9" id="9"/>
            <p:cNvSpPr/>
            <p:nvPr/>
          </p:nvSpPr>
          <p:spPr>
            <a:xfrm flipH="false" flipV="false" rot="0">
              <a:off x="0" y="0"/>
              <a:ext cx="1222878" cy="327337"/>
            </a:xfrm>
            <a:custGeom>
              <a:avLst/>
              <a:gdLst/>
              <a:ahLst/>
              <a:cxnLst/>
              <a:rect r="r" b="b" t="t" l="l"/>
              <a:pathLst>
                <a:path h="327337" w="1222878">
                  <a:moveTo>
                    <a:pt x="31681" y="0"/>
                  </a:moveTo>
                  <a:lnTo>
                    <a:pt x="1191197" y="0"/>
                  </a:lnTo>
                  <a:cubicBezTo>
                    <a:pt x="1199599" y="0"/>
                    <a:pt x="1207657" y="3338"/>
                    <a:pt x="1213599" y="9279"/>
                  </a:cubicBezTo>
                  <a:cubicBezTo>
                    <a:pt x="1219540" y="15220"/>
                    <a:pt x="1222878" y="23278"/>
                    <a:pt x="1222878" y="31681"/>
                  </a:cubicBezTo>
                  <a:lnTo>
                    <a:pt x="1222878" y="295656"/>
                  </a:lnTo>
                  <a:cubicBezTo>
                    <a:pt x="1222878" y="304058"/>
                    <a:pt x="1219540" y="312116"/>
                    <a:pt x="1213599" y="318058"/>
                  </a:cubicBezTo>
                  <a:cubicBezTo>
                    <a:pt x="1207657" y="323999"/>
                    <a:pt x="1199599" y="327337"/>
                    <a:pt x="1191197" y="327337"/>
                  </a:cubicBezTo>
                  <a:lnTo>
                    <a:pt x="31681" y="327337"/>
                  </a:lnTo>
                  <a:cubicBezTo>
                    <a:pt x="23278" y="327337"/>
                    <a:pt x="15220" y="323999"/>
                    <a:pt x="9279" y="318058"/>
                  </a:cubicBezTo>
                  <a:cubicBezTo>
                    <a:pt x="3338" y="312116"/>
                    <a:pt x="0" y="304058"/>
                    <a:pt x="0" y="295656"/>
                  </a:cubicBezTo>
                  <a:lnTo>
                    <a:pt x="0" y="31681"/>
                  </a:lnTo>
                  <a:cubicBezTo>
                    <a:pt x="0" y="23278"/>
                    <a:pt x="3338" y="15220"/>
                    <a:pt x="9279" y="9279"/>
                  </a:cubicBezTo>
                  <a:cubicBezTo>
                    <a:pt x="15220" y="3338"/>
                    <a:pt x="23278" y="0"/>
                    <a:pt x="31681" y="0"/>
                  </a:cubicBezTo>
                  <a:close/>
                </a:path>
              </a:pathLst>
            </a:custGeom>
            <a:solidFill>
              <a:srgbClr val="5188CC"/>
            </a:solidFill>
          </p:spPr>
        </p:sp>
        <p:sp>
          <p:nvSpPr>
            <p:cNvPr name="TextBox 10" id="10"/>
            <p:cNvSpPr txBox="true"/>
            <p:nvPr/>
          </p:nvSpPr>
          <p:spPr>
            <a:xfrm>
              <a:off x="0" y="-47625"/>
              <a:ext cx="1222878" cy="37496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1934740" y="6681817"/>
            <a:ext cx="4643114" cy="1366681"/>
            <a:chOff x="0" y="0"/>
            <a:chExt cx="1222878" cy="359949"/>
          </a:xfrm>
        </p:grpSpPr>
        <p:sp>
          <p:nvSpPr>
            <p:cNvPr name="Freeform 12" id="12"/>
            <p:cNvSpPr/>
            <p:nvPr/>
          </p:nvSpPr>
          <p:spPr>
            <a:xfrm flipH="false" flipV="false" rot="0">
              <a:off x="0" y="0"/>
              <a:ext cx="1222878" cy="359949"/>
            </a:xfrm>
            <a:custGeom>
              <a:avLst/>
              <a:gdLst/>
              <a:ahLst/>
              <a:cxnLst/>
              <a:rect r="r" b="b" t="t" l="l"/>
              <a:pathLst>
                <a:path h="359949" w="1222878">
                  <a:moveTo>
                    <a:pt x="31681" y="0"/>
                  </a:moveTo>
                  <a:lnTo>
                    <a:pt x="1191197" y="0"/>
                  </a:lnTo>
                  <a:cubicBezTo>
                    <a:pt x="1199599" y="0"/>
                    <a:pt x="1207657" y="3338"/>
                    <a:pt x="1213599" y="9279"/>
                  </a:cubicBezTo>
                  <a:cubicBezTo>
                    <a:pt x="1219540" y="15220"/>
                    <a:pt x="1222878" y="23278"/>
                    <a:pt x="1222878" y="31681"/>
                  </a:cubicBezTo>
                  <a:lnTo>
                    <a:pt x="1222878" y="328268"/>
                  </a:lnTo>
                  <a:cubicBezTo>
                    <a:pt x="1222878" y="336671"/>
                    <a:pt x="1219540" y="344729"/>
                    <a:pt x="1213599" y="350670"/>
                  </a:cubicBezTo>
                  <a:cubicBezTo>
                    <a:pt x="1207657" y="356611"/>
                    <a:pt x="1199599" y="359949"/>
                    <a:pt x="1191197" y="359949"/>
                  </a:cubicBezTo>
                  <a:lnTo>
                    <a:pt x="31681" y="359949"/>
                  </a:lnTo>
                  <a:cubicBezTo>
                    <a:pt x="23278" y="359949"/>
                    <a:pt x="15220" y="356611"/>
                    <a:pt x="9279" y="350670"/>
                  </a:cubicBezTo>
                  <a:cubicBezTo>
                    <a:pt x="3338" y="344729"/>
                    <a:pt x="0" y="336671"/>
                    <a:pt x="0" y="328268"/>
                  </a:cubicBezTo>
                  <a:lnTo>
                    <a:pt x="0" y="31681"/>
                  </a:lnTo>
                  <a:cubicBezTo>
                    <a:pt x="0" y="23278"/>
                    <a:pt x="3338" y="15220"/>
                    <a:pt x="9279" y="9279"/>
                  </a:cubicBezTo>
                  <a:cubicBezTo>
                    <a:pt x="15220" y="3338"/>
                    <a:pt x="23278" y="0"/>
                    <a:pt x="31681" y="0"/>
                  </a:cubicBezTo>
                  <a:close/>
                </a:path>
              </a:pathLst>
            </a:custGeom>
            <a:solidFill>
              <a:srgbClr val="5188CC"/>
            </a:solidFill>
          </p:spPr>
        </p:sp>
        <p:sp>
          <p:nvSpPr>
            <p:cNvPr name="TextBox 13" id="13"/>
            <p:cNvSpPr txBox="true"/>
            <p:nvPr/>
          </p:nvSpPr>
          <p:spPr>
            <a:xfrm>
              <a:off x="0" y="-47625"/>
              <a:ext cx="1222878" cy="407574"/>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403901" y="1028700"/>
            <a:ext cx="3353620" cy="8229600"/>
            <a:chOff x="0" y="0"/>
            <a:chExt cx="883258" cy="2167467"/>
          </a:xfrm>
        </p:grpSpPr>
        <p:sp>
          <p:nvSpPr>
            <p:cNvPr name="Freeform 15" id="15"/>
            <p:cNvSpPr/>
            <p:nvPr/>
          </p:nvSpPr>
          <p:spPr>
            <a:xfrm flipH="false" flipV="false" rot="0">
              <a:off x="0" y="0"/>
              <a:ext cx="883258" cy="2167467"/>
            </a:xfrm>
            <a:custGeom>
              <a:avLst/>
              <a:gdLst/>
              <a:ahLst/>
              <a:cxnLst/>
              <a:rect r="r" b="b" t="t" l="l"/>
              <a:pathLst>
                <a:path h="2167467" w="883258">
                  <a:moveTo>
                    <a:pt x="136203" y="0"/>
                  </a:moveTo>
                  <a:lnTo>
                    <a:pt x="747055" y="0"/>
                  </a:lnTo>
                  <a:cubicBezTo>
                    <a:pt x="822278" y="0"/>
                    <a:pt x="883258" y="60980"/>
                    <a:pt x="883258" y="136203"/>
                  </a:cubicBezTo>
                  <a:lnTo>
                    <a:pt x="883258" y="2031264"/>
                  </a:lnTo>
                  <a:cubicBezTo>
                    <a:pt x="883258" y="2106487"/>
                    <a:pt x="822278" y="2167467"/>
                    <a:pt x="747055" y="2167467"/>
                  </a:cubicBezTo>
                  <a:lnTo>
                    <a:pt x="136203" y="2167467"/>
                  </a:lnTo>
                  <a:cubicBezTo>
                    <a:pt x="100080" y="2167467"/>
                    <a:pt x="65436" y="2153117"/>
                    <a:pt x="39893" y="2127574"/>
                  </a:cubicBezTo>
                  <a:cubicBezTo>
                    <a:pt x="14350" y="2102031"/>
                    <a:pt x="0" y="2067387"/>
                    <a:pt x="0" y="2031264"/>
                  </a:cubicBezTo>
                  <a:lnTo>
                    <a:pt x="0" y="136203"/>
                  </a:lnTo>
                  <a:cubicBezTo>
                    <a:pt x="0" y="100080"/>
                    <a:pt x="14350" y="65436"/>
                    <a:pt x="39893" y="39893"/>
                  </a:cubicBezTo>
                  <a:cubicBezTo>
                    <a:pt x="65436" y="14350"/>
                    <a:pt x="100080" y="0"/>
                    <a:pt x="136203" y="0"/>
                  </a:cubicBezTo>
                  <a:close/>
                </a:path>
              </a:pathLst>
            </a:custGeom>
            <a:solidFill>
              <a:srgbClr val="E1EDFC"/>
            </a:solidFill>
            <a:ln cap="rnd">
              <a:noFill/>
              <a:prstDash val="solid"/>
              <a:round/>
            </a:ln>
          </p:spPr>
        </p:sp>
        <p:sp>
          <p:nvSpPr>
            <p:cNvPr name="TextBox 16" id="16"/>
            <p:cNvSpPr txBox="true"/>
            <p:nvPr/>
          </p:nvSpPr>
          <p:spPr>
            <a:xfrm>
              <a:off x="0" y="-47625"/>
              <a:ext cx="883258" cy="2215092"/>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7" id="17"/>
          <p:cNvGrpSpPr/>
          <p:nvPr/>
        </p:nvGrpSpPr>
        <p:grpSpPr>
          <a:xfrm rot="0">
            <a:off x="1888372" y="1028700"/>
            <a:ext cx="1496945" cy="149694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20" id="20"/>
          <p:cNvSpPr/>
          <p:nvPr/>
        </p:nvSpPr>
        <p:spPr>
          <a:xfrm flipH="false" flipV="false" rot="0">
            <a:off x="1272909" y="7567140"/>
            <a:ext cx="1230927" cy="1230927"/>
          </a:xfrm>
          <a:custGeom>
            <a:avLst/>
            <a:gdLst/>
            <a:ahLst/>
            <a:cxnLst/>
            <a:rect r="r" b="b" t="t" l="l"/>
            <a:pathLst>
              <a:path h="1230927" w="1230927">
                <a:moveTo>
                  <a:pt x="0" y="0"/>
                </a:moveTo>
                <a:lnTo>
                  <a:pt x="1230927" y="0"/>
                </a:lnTo>
                <a:lnTo>
                  <a:pt x="1230927" y="1230927"/>
                </a:lnTo>
                <a:lnTo>
                  <a:pt x="0" y="1230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725030" y="2393699"/>
            <a:ext cx="9540816" cy="2132653"/>
          </a:xfrm>
          <a:custGeom>
            <a:avLst/>
            <a:gdLst/>
            <a:ahLst/>
            <a:cxnLst/>
            <a:rect r="r" b="b" t="t" l="l"/>
            <a:pathLst>
              <a:path h="2132653" w="9540816">
                <a:moveTo>
                  <a:pt x="0" y="0"/>
                </a:moveTo>
                <a:lnTo>
                  <a:pt x="9540816" y="0"/>
                </a:lnTo>
                <a:lnTo>
                  <a:pt x="9540816" y="2132653"/>
                </a:lnTo>
                <a:lnTo>
                  <a:pt x="0" y="2132653"/>
                </a:lnTo>
                <a:lnTo>
                  <a:pt x="0" y="0"/>
                </a:lnTo>
                <a:close/>
              </a:path>
            </a:pathLst>
          </a:custGeom>
          <a:blipFill>
            <a:blip r:embed="rId4"/>
            <a:stretch>
              <a:fillRect l="0" t="0" r="0" b="0"/>
            </a:stretch>
          </a:blipFill>
        </p:spPr>
      </p:sp>
      <p:sp>
        <p:nvSpPr>
          <p:cNvPr name="Freeform 22" id="22"/>
          <p:cNvSpPr/>
          <p:nvPr/>
        </p:nvSpPr>
        <p:spPr>
          <a:xfrm flipH="false" flipV="false" rot="0">
            <a:off x="1888372" y="4962756"/>
            <a:ext cx="7087257" cy="4133104"/>
          </a:xfrm>
          <a:custGeom>
            <a:avLst/>
            <a:gdLst/>
            <a:ahLst/>
            <a:cxnLst/>
            <a:rect r="r" b="b" t="t" l="l"/>
            <a:pathLst>
              <a:path h="4133104" w="7087257">
                <a:moveTo>
                  <a:pt x="0" y="0"/>
                </a:moveTo>
                <a:lnTo>
                  <a:pt x="7087257" y="0"/>
                </a:lnTo>
                <a:lnTo>
                  <a:pt x="7087257" y="4133104"/>
                </a:lnTo>
                <a:lnTo>
                  <a:pt x="0" y="4133104"/>
                </a:lnTo>
                <a:lnTo>
                  <a:pt x="0" y="0"/>
                </a:lnTo>
                <a:close/>
              </a:path>
            </a:pathLst>
          </a:custGeom>
          <a:blipFill>
            <a:blip r:embed="rId5"/>
            <a:stretch>
              <a:fillRect l="0" t="0" r="0" b="0"/>
            </a:stretch>
          </a:blipFill>
        </p:spPr>
      </p:sp>
      <p:sp>
        <p:nvSpPr>
          <p:cNvPr name="TextBox 23" id="23"/>
          <p:cNvSpPr txBox="true"/>
          <p:nvPr/>
        </p:nvSpPr>
        <p:spPr>
          <a:xfrm rot="0">
            <a:off x="12491512" y="3586146"/>
            <a:ext cx="3529570" cy="372809"/>
          </a:xfrm>
          <a:prstGeom prst="rect">
            <a:avLst/>
          </a:prstGeom>
        </p:spPr>
        <p:txBody>
          <a:bodyPr anchor="t" rtlCol="false" tIns="0" lIns="0" bIns="0" rIns="0">
            <a:spAutoFit/>
          </a:bodyPr>
          <a:lstStyle/>
          <a:p>
            <a:pPr algn="ctr">
              <a:lnSpc>
                <a:spcPts val="3080"/>
              </a:lnSpc>
            </a:pPr>
            <a:r>
              <a:rPr lang="en-US" sz="2200" b="true">
                <a:solidFill>
                  <a:srgbClr val="FFFFFF"/>
                </a:solidFill>
                <a:latin typeface="Noto Sans Bold"/>
                <a:ea typeface="Noto Sans Bold"/>
                <a:cs typeface="Noto Sans Bold"/>
                <a:sym typeface="Noto Sans Bold"/>
              </a:rPr>
              <a:t>Chạy chương trình</a:t>
            </a:r>
          </a:p>
        </p:txBody>
      </p:sp>
      <p:sp>
        <p:nvSpPr>
          <p:cNvPr name="TextBox 24" id="24"/>
          <p:cNvSpPr txBox="true"/>
          <p:nvPr/>
        </p:nvSpPr>
        <p:spPr>
          <a:xfrm rot="0">
            <a:off x="12113861" y="6028141"/>
            <a:ext cx="4284872" cy="372809"/>
          </a:xfrm>
          <a:prstGeom prst="rect">
            <a:avLst/>
          </a:prstGeom>
        </p:spPr>
        <p:txBody>
          <a:bodyPr anchor="t" rtlCol="false" tIns="0" lIns="0" bIns="0" rIns="0">
            <a:spAutoFit/>
          </a:bodyPr>
          <a:lstStyle/>
          <a:p>
            <a:pPr algn="ctr">
              <a:lnSpc>
                <a:spcPts val="3080"/>
              </a:lnSpc>
            </a:pPr>
            <a:r>
              <a:rPr lang="en-US" sz="2200" b="true">
                <a:solidFill>
                  <a:srgbClr val="FFFFFF"/>
                </a:solidFill>
                <a:latin typeface="Noto Sans Bold"/>
                <a:ea typeface="Noto Sans Bold"/>
                <a:cs typeface="Noto Sans Bold"/>
                <a:sym typeface="Noto Sans Bold"/>
              </a:rPr>
              <a:t>Trang chủ Web</a:t>
            </a:r>
          </a:p>
        </p:txBody>
      </p:sp>
      <p:sp>
        <p:nvSpPr>
          <p:cNvPr name="TextBox 25" id="25"/>
          <p:cNvSpPr txBox="true"/>
          <p:nvPr/>
        </p:nvSpPr>
        <p:spPr>
          <a:xfrm rot="0">
            <a:off x="12292973" y="4491518"/>
            <a:ext cx="3926649" cy="701607"/>
          </a:xfrm>
          <a:prstGeom prst="rect">
            <a:avLst/>
          </a:prstGeom>
        </p:spPr>
        <p:txBody>
          <a:bodyPr anchor="t" rtlCol="false" tIns="0" lIns="0" bIns="0" rIns="0">
            <a:spAutoFit/>
          </a:bodyPr>
          <a:lstStyle/>
          <a:p>
            <a:pPr algn="just">
              <a:lnSpc>
                <a:spcPts val="2800"/>
              </a:lnSpc>
            </a:pPr>
            <a:r>
              <a:rPr lang="en-US" sz="2000" b="true">
                <a:solidFill>
                  <a:srgbClr val="FFFFFF"/>
                </a:solidFill>
                <a:latin typeface="Saira Bold"/>
                <a:ea typeface="Saira Bold"/>
                <a:cs typeface="Saira Bold"/>
                <a:sym typeface="Saira Bold"/>
              </a:rPr>
              <a:t>Lấy địa chỉ IP và truy cập vào trình duyệt</a:t>
            </a:r>
          </a:p>
        </p:txBody>
      </p:sp>
      <p:sp>
        <p:nvSpPr>
          <p:cNvPr name="TextBox 26" id="26"/>
          <p:cNvSpPr txBox="true"/>
          <p:nvPr/>
        </p:nvSpPr>
        <p:spPr>
          <a:xfrm rot="0">
            <a:off x="12292973" y="6870674"/>
            <a:ext cx="3926649" cy="1053999"/>
          </a:xfrm>
          <a:prstGeom prst="rect">
            <a:avLst/>
          </a:prstGeom>
        </p:spPr>
        <p:txBody>
          <a:bodyPr anchor="t" rtlCol="false" tIns="0" lIns="0" bIns="0" rIns="0">
            <a:spAutoFit/>
          </a:bodyPr>
          <a:lstStyle/>
          <a:p>
            <a:pPr algn="just">
              <a:lnSpc>
                <a:spcPts val="2800"/>
              </a:lnSpc>
            </a:pPr>
            <a:r>
              <a:rPr lang="en-US" sz="2000" b="true">
                <a:solidFill>
                  <a:srgbClr val="FFFFFF"/>
                </a:solidFill>
                <a:latin typeface="Saira Bold"/>
                <a:ea typeface="Saira Bold"/>
                <a:cs typeface="Saira Bold"/>
                <a:sym typeface="Saira Bold"/>
              </a:rPr>
              <a:t>Tại đây ta có thể tùy chỉnh độ phân giải, màu, độ sáng cho camera</a:t>
            </a:r>
          </a:p>
        </p:txBody>
      </p:sp>
      <p:sp>
        <p:nvSpPr>
          <p:cNvPr name="TextBox 27" id="27"/>
          <p:cNvSpPr txBox="true"/>
          <p:nvPr/>
        </p:nvSpPr>
        <p:spPr>
          <a:xfrm rot="0">
            <a:off x="3252235" y="1136715"/>
            <a:ext cx="8819692" cy="820580"/>
          </a:xfrm>
          <a:prstGeom prst="rect">
            <a:avLst/>
          </a:prstGeom>
        </p:spPr>
        <p:txBody>
          <a:bodyPr anchor="t" rtlCol="false" tIns="0" lIns="0" bIns="0" rIns="0">
            <a:spAutoFit/>
          </a:bodyPr>
          <a:lstStyle/>
          <a:p>
            <a:pPr algn="r" marL="0" indent="0" lvl="0">
              <a:lnSpc>
                <a:spcPts val="6603"/>
              </a:lnSpc>
              <a:spcBef>
                <a:spcPct val="0"/>
              </a:spcBef>
            </a:pPr>
            <a:r>
              <a:rPr lang="en-US" b="true" sz="5199">
                <a:solidFill>
                  <a:srgbClr val="0E2F5F"/>
                </a:solidFill>
                <a:latin typeface="Montserrat Heavy"/>
                <a:ea typeface="Montserrat Heavy"/>
                <a:cs typeface="Montserrat Heavy"/>
                <a:sym typeface="Montserrat Heavy"/>
              </a:rPr>
              <a:t>Khởi chạy chương trình</a:t>
            </a:r>
          </a:p>
        </p:txBody>
      </p:sp>
      <p:sp>
        <p:nvSpPr>
          <p:cNvPr name="Freeform 28" id="28"/>
          <p:cNvSpPr/>
          <p:nvPr/>
        </p:nvSpPr>
        <p:spPr>
          <a:xfrm flipH="false" flipV="false" rot="0">
            <a:off x="15042028" y="723828"/>
            <a:ext cx="2217272" cy="1132656"/>
          </a:xfrm>
          <a:custGeom>
            <a:avLst/>
            <a:gdLst/>
            <a:ahLst/>
            <a:cxnLst/>
            <a:rect r="r" b="b" t="t" l="l"/>
            <a:pathLst>
              <a:path h="1132656" w="2217272">
                <a:moveTo>
                  <a:pt x="0" y="0"/>
                </a:moveTo>
                <a:lnTo>
                  <a:pt x="2217272" y="0"/>
                </a:lnTo>
                <a:lnTo>
                  <a:pt x="2217272" y="1132657"/>
                </a:lnTo>
                <a:lnTo>
                  <a:pt x="0" y="1132657"/>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848550" y="2782372"/>
            <a:ext cx="4829892" cy="5894830"/>
            <a:chOff x="0" y="0"/>
            <a:chExt cx="1272070" cy="1552548"/>
          </a:xfrm>
        </p:grpSpPr>
        <p:sp>
          <p:nvSpPr>
            <p:cNvPr name="Freeform 3" id="3"/>
            <p:cNvSpPr/>
            <p:nvPr/>
          </p:nvSpPr>
          <p:spPr>
            <a:xfrm flipH="false" flipV="false" rot="0">
              <a:off x="0" y="0"/>
              <a:ext cx="1272070" cy="1552548"/>
            </a:xfrm>
            <a:custGeom>
              <a:avLst/>
              <a:gdLst/>
              <a:ahLst/>
              <a:cxnLst/>
              <a:rect r="r" b="b" t="t" l="l"/>
              <a:pathLst>
                <a:path h="1552548" w="1272070">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sp>
        <p:sp>
          <p:nvSpPr>
            <p:cNvPr name="TextBox 4" id="4"/>
            <p:cNvSpPr txBox="true"/>
            <p:nvPr/>
          </p:nvSpPr>
          <p:spPr>
            <a:xfrm>
              <a:off x="0" y="-47625"/>
              <a:ext cx="1272070" cy="1600173"/>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278520" y="8403467"/>
            <a:ext cx="543712" cy="666314"/>
          </a:xfrm>
          <a:custGeom>
            <a:avLst/>
            <a:gdLst/>
            <a:ahLst/>
            <a:cxnLst/>
            <a:rect r="r" b="b" t="t" l="l"/>
            <a:pathLst>
              <a:path h="666314" w="543712">
                <a:moveTo>
                  <a:pt x="0" y="0"/>
                </a:moveTo>
                <a:lnTo>
                  <a:pt x="543712" y="0"/>
                </a:lnTo>
                <a:lnTo>
                  <a:pt x="543712" y="666314"/>
                </a:lnTo>
                <a:lnTo>
                  <a:pt x="0" y="666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4848550" y="1944578"/>
            <a:ext cx="1226460" cy="379088"/>
          </a:xfrm>
          <a:custGeom>
            <a:avLst/>
            <a:gdLst/>
            <a:ahLst/>
            <a:cxnLst/>
            <a:rect r="r" b="b" t="t" l="l"/>
            <a:pathLst>
              <a:path h="379088" w="1226460">
                <a:moveTo>
                  <a:pt x="0" y="0"/>
                </a:moveTo>
                <a:lnTo>
                  <a:pt x="1226460" y="0"/>
                </a:lnTo>
                <a:lnTo>
                  <a:pt x="1226460" y="379087"/>
                </a:lnTo>
                <a:lnTo>
                  <a:pt x="0" y="3790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298985" y="1028700"/>
            <a:ext cx="960315" cy="960315"/>
          </a:xfrm>
          <a:custGeom>
            <a:avLst/>
            <a:gdLst/>
            <a:ahLst/>
            <a:cxnLst/>
            <a:rect r="r" b="b" t="t" l="l"/>
            <a:pathLst>
              <a:path h="960315" w="960315">
                <a:moveTo>
                  <a:pt x="0" y="0"/>
                </a:moveTo>
                <a:lnTo>
                  <a:pt x="960315" y="0"/>
                </a:lnTo>
                <a:lnTo>
                  <a:pt x="960315" y="960315"/>
                </a:lnTo>
                <a:lnTo>
                  <a:pt x="0" y="960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44056" y="2501008"/>
            <a:ext cx="13008174" cy="5902459"/>
          </a:xfrm>
          <a:custGeom>
            <a:avLst/>
            <a:gdLst/>
            <a:ahLst/>
            <a:cxnLst/>
            <a:rect r="r" b="b" t="t" l="l"/>
            <a:pathLst>
              <a:path h="5902459" w="13008174">
                <a:moveTo>
                  <a:pt x="0" y="0"/>
                </a:moveTo>
                <a:lnTo>
                  <a:pt x="13008174" y="0"/>
                </a:lnTo>
                <a:lnTo>
                  <a:pt x="13008174" y="5902459"/>
                </a:lnTo>
                <a:lnTo>
                  <a:pt x="0" y="5902459"/>
                </a:lnTo>
                <a:lnTo>
                  <a:pt x="0" y="0"/>
                </a:lnTo>
                <a:close/>
              </a:path>
            </a:pathLst>
          </a:custGeom>
          <a:blipFill>
            <a:blip r:embed="rId8"/>
            <a:stretch>
              <a:fillRect l="0" t="0" r="0" b="0"/>
            </a:stretch>
          </a:blipFill>
        </p:spPr>
      </p:sp>
      <p:sp>
        <p:nvSpPr>
          <p:cNvPr name="TextBox 9" id="9"/>
          <p:cNvSpPr txBox="true"/>
          <p:nvPr/>
        </p:nvSpPr>
        <p:spPr>
          <a:xfrm rot="0">
            <a:off x="1028700" y="1000125"/>
            <a:ext cx="7075535" cy="712470"/>
          </a:xfrm>
          <a:prstGeom prst="rect">
            <a:avLst/>
          </a:prstGeom>
        </p:spPr>
        <p:txBody>
          <a:bodyPr anchor="t" rtlCol="false" tIns="0" lIns="0" bIns="0" rIns="0">
            <a:spAutoFit/>
          </a:bodyPr>
          <a:lstStyle/>
          <a:p>
            <a:pPr algn="l">
              <a:lnSpc>
                <a:spcPts val="5715"/>
              </a:lnSpc>
            </a:pPr>
            <a:r>
              <a:rPr lang="en-US" sz="4500" b="true">
                <a:solidFill>
                  <a:srgbClr val="0E2F5F"/>
                </a:solidFill>
                <a:latin typeface="Barlow Condensed Heavy"/>
                <a:ea typeface="Barlow Condensed Heavy"/>
                <a:cs typeface="Barlow Condensed Heavy"/>
                <a:sym typeface="Barlow Condensed Heavy"/>
              </a:rPr>
              <a:t>Kết quả</a:t>
            </a:r>
          </a:p>
        </p:txBody>
      </p:sp>
      <p:sp>
        <p:nvSpPr>
          <p:cNvPr name="Freeform 10" id="10"/>
          <p:cNvSpPr/>
          <p:nvPr/>
        </p:nvSpPr>
        <p:spPr>
          <a:xfrm flipH="false" flipV="false" rot="0">
            <a:off x="15042028" y="723828"/>
            <a:ext cx="2217272" cy="1132656"/>
          </a:xfrm>
          <a:custGeom>
            <a:avLst/>
            <a:gdLst/>
            <a:ahLst/>
            <a:cxnLst/>
            <a:rect r="r" b="b" t="t" l="l"/>
            <a:pathLst>
              <a:path h="1132656" w="2217272">
                <a:moveTo>
                  <a:pt x="0" y="0"/>
                </a:moveTo>
                <a:lnTo>
                  <a:pt x="2217272" y="0"/>
                </a:lnTo>
                <a:lnTo>
                  <a:pt x="2217272" y="1132657"/>
                </a:lnTo>
                <a:lnTo>
                  <a:pt x="0" y="1132657"/>
                </a:lnTo>
                <a:lnTo>
                  <a:pt x="0" y="0"/>
                </a:lnTo>
                <a:close/>
              </a:path>
            </a:pathLst>
          </a:custGeom>
          <a:blipFill>
            <a:blip r:embed="rId9"/>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70689" y="3176727"/>
            <a:ext cx="9346622" cy="3896988"/>
          </a:xfrm>
          <a:prstGeom prst="rect">
            <a:avLst/>
          </a:prstGeom>
        </p:spPr>
        <p:txBody>
          <a:bodyPr anchor="t" rtlCol="false" tIns="0" lIns="0" bIns="0" rIns="0">
            <a:spAutoFit/>
          </a:bodyPr>
          <a:lstStyle/>
          <a:p>
            <a:pPr algn="ctr">
              <a:lnSpc>
                <a:spcPts val="14658"/>
              </a:lnSpc>
            </a:pPr>
            <a:r>
              <a:rPr lang="en-US" b="true" sz="16848">
                <a:solidFill>
                  <a:srgbClr val="0E2F5F"/>
                </a:solidFill>
                <a:latin typeface="Barlow Condensed Heavy"/>
                <a:ea typeface="Barlow Condensed Heavy"/>
                <a:cs typeface="Barlow Condensed Heavy"/>
                <a:sym typeface="Barlow Condensed Heavy"/>
              </a:rPr>
              <a:t>THANK YOU!</a:t>
            </a:r>
          </a:p>
        </p:txBody>
      </p:sp>
      <p:grpSp>
        <p:nvGrpSpPr>
          <p:cNvPr name="Group 3" id="3"/>
          <p:cNvGrpSpPr/>
          <p:nvPr/>
        </p:nvGrpSpPr>
        <p:grpSpPr>
          <a:xfrm rot="0">
            <a:off x="7249048" y="7616640"/>
            <a:ext cx="3789904" cy="665701"/>
            <a:chOff x="0" y="0"/>
            <a:chExt cx="998164" cy="175329"/>
          </a:xfrm>
        </p:grpSpPr>
        <p:sp>
          <p:nvSpPr>
            <p:cNvPr name="Freeform 4" id="4"/>
            <p:cNvSpPr/>
            <p:nvPr/>
          </p:nvSpPr>
          <p:spPr>
            <a:xfrm flipH="false" flipV="false" rot="0">
              <a:off x="0" y="0"/>
              <a:ext cx="998164" cy="175329"/>
            </a:xfrm>
            <a:custGeom>
              <a:avLst/>
              <a:gdLst/>
              <a:ahLst/>
              <a:cxnLst/>
              <a:rect r="r" b="b" t="t" l="l"/>
              <a:pathLst>
                <a:path h="175329" w="998164">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sp>
        <p:sp>
          <p:nvSpPr>
            <p:cNvPr name="TextBox 5" id="5"/>
            <p:cNvSpPr txBox="true"/>
            <p:nvPr/>
          </p:nvSpPr>
          <p:spPr>
            <a:xfrm>
              <a:off x="0" y="-47625"/>
              <a:ext cx="998164" cy="222954"/>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3424608" y="-1072654"/>
            <a:ext cx="11438784" cy="2839490"/>
            <a:chOff x="0" y="0"/>
            <a:chExt cx="3012684" cy="747849"/>
          </a:xfrm>
        </p:grpSpPr>
        <p:sp>
          <p:nvSpPr>
            <p:cNvPr name="Freeform 7" id="7"/>
            <p:cNvSpPr/>
            <p:nvPr/>
          </p:nvSpPr>
          <p:spPr>
            <a:xfrm flipH="false" flipV="false" rot="0">
              <a:off x="0" y="0"/>
              <a:ext cx="3012684" cy="747849"/>
            </a:xfrm>
            <a:custGeom>
              <a:avLst/>
              <a:gdLst/>
              <a:ahLst/>
              <a:cxnLst/>
              <a:rect r="r" b="b" t="t" l="l"/>
              <a:pathLst>
                <a:path h="747849" w="3012684">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sp>
        <p:sp>
          <p:nvSpPr>
            <p:cNvPr name="TextBox 8" id="8"/>
            <p:cNvSpPr txBox="true"/>
            <p:nvPr/>
          </p:nvSpPr>
          <p:spPr>
            <a:xfrm>
              <a:off x="0" y="-47625"/>
              <a:ext cx="3012684" cy="795474"/>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9" id="9"/>
          <p:cNvGrpSpPr/>
          <p:nvPr/>
        </p:nvGrpSpPr>
        <p:grpSpPr>
          <a:xfrm rot="0">
            <a:off x="8395527" y="1028700"/>
            <a:ext cx="1496945" cy="14969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0">
            <a:off x="8673581" y="1447879"/>
            <a:ext cx="940838" cy="658587"/>
          </a:xfrm>
          <a:custGeom>
            <a:avLst/>
            <a:gdLst/>
            <a:ahLst/>
            <a:cxnLst/>
            <a:rect r="r" b="b" t="t" l="l"/>
            <a:pathLst>
              <a:path h="658587" w="940838">
                <a:moveTo>
                  <a:pt x="0" y="0"/>
                </a:moveTo>
                <a:lnTo>
                  <a:pt x="940838" y="0"/>
                </a:lnTo>
                <a:lnTo>
                  <a:pt x="940838" y="658587"/>
                </a:lnTo>
                <a:lnTo>
                  <a:pt x="0" y="658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3424608" y="4750679"/>
            <a:ext cx="1519327" cy="469610"/>
          </a:xfrm>
          <a:custGeom>
            <a:avLst/>
            <a:gdLst/>
            <a:ahLst/>
            <a:cxnLst/>
            <a:rect r="r" b="b" t="t" l="l"/>
            <a:pathLst>
              <a:path h="469610" w="1519327">
                <a:moveTo>
                  <a:pt x="0" y="0"/>
                </a:moveTo>
                <a:lnTo>
                  <a:pt x="1519327" y="0"/>
                </a:lnTo>
                <a:lnTo>
                  <a:pt x="1519327" y="469610"/>
                </a:lnTo>
                <a:lnTo>
                  <a:pt x="0" y="469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true" flipV="false" rot="0">
            <a:off x="13344065" y="4750679"/>
            <a:ext cx="1519327" cy="469610"/>
          </a:xfrm>
          <a:custGeom>
            <a:avLst/>
            <a:gdLst/>
            <a:ahLst/>
            <a:cxnLst/>
            <a:rect r="r" b="b" t="t" l="l"/>
            <a:pathLst>
              <a:path h="469610" w="1519327">
                <a:moveTo>
                  <a:pt x="1519327" y="0"/>
                </a:moveTo>
                <a:lnTo>
                  <a:pt x="0" y="0"/>
                </a:lnTo>
                <a:lnTo>
                  <a:pt x="0" y="469610"/>
                </a:lnTo>
                <a:lnTo>
                  <a:pt x="1519327" y="469610"/>
                </a:lnTo>
                <a:lnTo>
                  <a:pt x="151932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0" y="8996715"/>
            <a:ext cx="18288000" cy="1290285"/>
            <a:chOff x="0" y="0"/>
            <a:chExt cx="4816593" cy="339828"/>
          </a:xfrm>
        </p:grpSpPr>
        <p:sp>
          <p:nvSpPr>
            <p:cNvPr name="Freeform 16" id="16"/>
            <p:cNvSpPr/>
            <p:nvPr/>
          </p:nvSpPr>
          <p:spPr>
            <a:xfrm flipH="false" flipV="false" rot="0">
              <a:off x="0" y="0"/>
              <a:ext cx="4816592" cy="339828"/>
            </a:xfrm>
            <a:custGeom>
              <a:avLst/>
              <a:gdLst/>
              <a:ahLst/>
              <a:cxnLst/>
              <a:rect r="r" b="b" t="t" l="l"/>
              <a:pathLst>
                <a:path h="339828" w="4816592">
                  <a:moveTo>
                    <a:pt x="0" y="0"/>
                  </a:moveTo>
                  <a:lnTo>
                    <a:pt x="4816592" y="0"/>
                  </a:lnTo>
                  <a:lnTo>
                    <a:pt x="4816592" y="339828"/>
                  </a:lnTo>
                  <a:lnTo>
                    <a:pt x="0" y="339828"/>
                  </a:lnTo>
                  <a:close/>
                </a:path>
              </a:pathLst>
            </a:custGeom>
            <a:solidFill>
              <a:srgbClr val="0E2F5F"/>
            </a:solidFill>
            <a:ln cap="sq">
              <a:noFill/>
              <a:prstDash val="solid"/>
              <a:miter/>
            </a:ln>
          </p:spPr>
        </p:sp>
        <p:sp>
          <p:nvSpPr>
            <p:cNvPr name="TextBox 17" id="17"/>
            <p:cNvSpPr txBox="true"/>
            <p:nvPr/>
          </p:nvSpPr>
          <p:spPr>
            <a:xfrm>
              <a:off x="0" y="-47625"/>
              <a:ext cx="4816593" cy="387453"/>
            </a:xfrm>
            <a:prstGeom prst="rect">
              <a:avLst/>
            </a:prstGeom>
          </p:spPr>
          <p:txBody>
            <a:bodyPr anchor="ctr" rtlCol="false" tIns="50800" lIns="50800" bIns="50800" rIns="50800"/>
            <a:lstStyle/>
            <a:p>
              <a:pPr algn="ctr" marL="0" indent="0" lvl="0">
                <a:lnSpc>
                  <a:spcPts val="2800"/>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DAGoShxgDC8</dc:identifier>
  <dcterms:modified xsi:type="dcterms:W3CDTF">2011-08-01T06:04:30Z</dcterms:modified>
  <cp:revision>1</cp:revision>
  <dc:title>Đồ án chuyên ngành 1</dc:title>
</cp:coreProperties>
</file>